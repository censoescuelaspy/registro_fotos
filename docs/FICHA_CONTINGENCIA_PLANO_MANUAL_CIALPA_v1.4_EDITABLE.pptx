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772400" cy="118871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000" y="298800"/>
            <a:ext cx="86400" cy="86400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43999" y="298800"/>
            <a:ext cx="86400" cy="86400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94400"/>
            <a:ext cx="413999" cy="259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28000" y="190800"/>
            <a:ext cx="4320000" cy="30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3F67"/>
                </a:solidFill>
                <a:latin typeface="Arial"/>
              </a:rPr>
              <a:t>FICHA DE CONTINGENCIA - PLANO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2000" y="198000"/>
            <a:ext cx="900000" cy="28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70" b="1">
                <a:solidFill>
                  <a:srgbClr val="173F67"/>
                </a:solidFill>
                <a:latin typeface="Arial"/>
              </a:rPr>
              <a:t>FORM CIALPA_PM_01
v1.4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999" y="576000"/>
            <a:ext cx="2181600" cy="4608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400" y="588600"/>
            <a:ext cx="21528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[E01] CÓDIGO MEC DE ESCUELA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2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44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6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8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60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132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004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876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48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620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33600" y="576000"/>
            <a:ext cx="2181600" cy="4608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48000" y="588600"/>
            <a:ext cx="21528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[E04] CÓDIGO CENSISTA / CÉDULA (SIN PUNTOS)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588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460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332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204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76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48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1999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9199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564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436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5199" y="576000"/>
            <a:ext cx="1454400" cy="4608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9600" y="588600"/>
            <a:ext cx="14256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[E02] FECHA AAAA-MM-DD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0399" y="720000"/>
            <a:ext cx="1656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05999" y="720000"/>
            <a:ext cx="1656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1599" y="720000"/>
            <a:ext cx="1656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37200" y="720000"/>
            <a:ext cx="1656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02799" y="720000"/>
            <a:ext cx="1656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68399" y="720000"/>
            <a:ext cx="1656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33999" y="720000"/>
            <a:ext cx="1656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99599" y="720000"/>
            <a:ext cx="1656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69600" y="576000"/>
            <a:ext cx="727200" cy="4608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3999" y="588600"/>
            <a:ext cx="6984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[E08] FORM.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48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1999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96800" y="576000"/>
            <a:ext cx="727200" cy="4608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1200" y="588600"/>
            <a:ext cx="6984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[E06] HOJA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220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09200" y="720000"/>
            <a:ext cx="187200" cy="1872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1999" y="1036800"/>
            <a:ext cx="1211999" cy="4392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6400" y="1049400"/>
            <a:ext cx="11832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[R01] BLOQUE 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7200" y="1180800"/>
            <a:ext cx="216000" cy="1980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93199" y="1180800"/>
            <a:ext cx="216000" cy="1980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64000" y="1036800"/>
            <a:ext cx="1211999" cy="4392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78400" y="1049400"/>
            <a:ext cx="11832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[R02] PISO 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89200" y="1180800"/>
            <a:ext cx="216000" cy="1980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05200" y="1180800"/>
            <a:ext cx="216000" cy="1980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75999" y="1036800"/>
            <a:ext cx="1696799" cy="4392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90400" y="1049400"/>
            <a:ext cx="16680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[R03] ESPACIO 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01200" y="1180800"/>
            <a:ext cx="216000" cy="1980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17200" y="1180800"/>
            <a:ext cx="216000" cy="1980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33200" y="1180800"/>
            <a:ext cx="216000" cy="1980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72800" y="1036800"/>
            <a:ext cx="969600" cy="4392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7200" y="1049400"/>
            <a:ext cx="9408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[R05] CANTIDAD DE FOTOS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98000" y="1180800"/>
            <a:ext cx="216000" cy="1980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14000" y="1180800"/>
            <a:ext cx="216000" cy="198000"/>
          </a:xfrm>
          <a:prstGeom prst="rect">
            <a:avLst/>
          </a:prstGeom>
          <a:noFill/>
          <a:ln w="1143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42400" y="1036800"/>
            <a:ext cx="2181600" cy="4392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56800" y="1049400"/>
            <a:ext cx="21528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[E10] ORIENTACIÓN NORTE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60400" y="1137600"/>
            <a:ext cx="2145600" cy="3312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59" b="1">
                <a:solidFill>
                  <a:srgbClr val="172033"/>
                </a:solidFill>
                <a:latin typeface="Arial"/>
              </a:rPr>
              <a:t>□ ↑ Arriba   □ → Derecha   □ ↓ Abajo   □ ← Izquierda   □ Otra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1999" y="1475999"/>
            <a:ext cx="7272000" cy="244799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6400" y="1488600"/>
            <a:ext cx="7243199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[R04] TIPO DE ESPACIO - MARQUE UNA OPCIÓN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0000" y="1576800"/>
            <a:ext cx="7236000" cy="1368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80" b="1">
                <a:solidFill>
                  <a:srgbClr val="172033"/>
                </a:solidFill>
                <a:latin typeface="Arial"/>
              </a:rPr>
              <a:t>□ PG Planta gral.   □ AUL Aula   □ ADM Administración   □ BIB Biblioteca   □ COM Cocina/Comedor   □ DEP Depósito
□ LAB Laboratorio   □ TAL Taller   □ SAN Sanitario   □ CIR Pasillo   □ EXT Exterior   □ OTR Otro: __________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1999" y="1720799"/>
            <a:ext cx="4242000" cy="2880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6400" y="1733399"/>
            <a:ext cx="42132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MEDIDAS DIRECTAS EN CENTÍMETROS (cm) - NO CALCULAR ÁREA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0000" y="1821599"/>
            <a:ext cx="4206000" cy="180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70" b="1">
                <a:solidFill>
                  <a:srgbClr val="172033"/>
                </a:solidFill>
                <a:latin typeface="Arial"/>
              </a:rPr>
              <a:t>[M01] Largo __________ cm    [M02] Ancho __________ cm    [M03] Alto __________ cm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94000" y="1720799"/>
            <a:ext cx="3030000" cy="2880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08400" y="1733399"/>
            <a:ext cx="3001200" cy="7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9" b="1">
                <a:solidFill>
                  <a:srgbClr val="173F67"/>
                </a:solidFill>
                <a:latin typeface="Arial"/>
              </a:rPr>
              <a:t>[E12] ESTADO DEL CROQUIS - MARQUE UNA OPCIÓN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12000" y="1821599"/>
            <a:ext cx="2994000" cy="180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72033"/>
                </a:solidFill>
                <a:latin typeface="Arial"/>
              </a:rPr>
              <a:t>□ Inicial   □ Rev.   □ Final   □ Parc.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1999" y="2008800"/>
            <a:ext cx="4536000" cy="234000"/>
          </a:xfrm>
          <a:prstGeom prst="rect">
            <a:avLst/>
          </a:prstGeom>
          <a:solidFill>
            <a:srgbClr val="FFF7ED"/>
          </a:solidFill>
          <a:ln w="889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788000" y="2008800"/>
            <a:ext cx="2736000" cy="234000"/>
          </a:xfrm>
          <a:prstGeom prst="rect">
            <a:avLst/>
          </a:prstGeom>
          <a:solidFill>
            <a:srgbClr val="FFF7ED"/>
          </a:solidFill>
          <a:ln w="889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8000" y="2019599"/>
            <a:ext cx="4464000" cy="2124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9A3412"/>
                </a:solidFill>
                <a:latin typeface="Arial"/>
              </a:rPr>
              <a:t>MEDIDAS: SIEMPRE EN CENTÍMETROS (cm). Use coma decimal solo si es imprescindible expresar milímetros (ej.: 12,5 cm = 125 mm). No use metros ni calcule áreas.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24000" y="2019599"/>
            <a:ext cx="2664000" cy="2124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9A3412"/>
                </a:solidFill>
                <a:latin typeface="Arial"/>
              </a:rPr>
              <a:t>TINTA: negro o azul oscuro. Rojo opcional solo para resaltar DF; escriba siempre el código DF en tinta oscura.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1999" y="22428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295200" y="2347200"/>
            <a:ext cx="151199" cy="0"/>
          </a:xfrm>
          <a:prstGeom prst="line">
            <a:avLst/>
          </a:prstGeom>
          <a:ln w="1778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64400" y="2264400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MU Pared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61000" y="22428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1204200" y="2347200"/>
            <a:ext cx="151200" cy="0"/>
          </a:xfrm>
          <a:prstGeom prst="line">
            <a:avLst/>
          </a:prstGeom>
          <a:ln w="6985">
            <a:solidFill>
              <a:srgbClr val="1720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373400" y="2264400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TA Tabique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70000" y="22428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2113200" y="2300400"/>
            <a:ext cx="0" cy="100800"/>
          </a:xfrm>
          <a:prstGeom prst="line">
            <a:avLst/>
          </a:prstGeom>
          <a:ln w="825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113200" y="2300400"/>
            <a:ext cx="97200" cy="100800"/>
          </a:xfrm>
          <a:prstGeom prst="line">
            <a:avLst/>
          </a:prstGeom>
          <a:ln w="825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228400" y="2401200"/>
            <a:ext cx="36000" cy="0"/>
          </a:xfrm>
          <a:prstGeom prst="line">
            <a:avLst/>
          </a:prstGeom>
          <a:ln w="825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282400" y="2264400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PT Puerta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79000" y="22428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 flipV="1">
            <a:off x="3022200" y="2304000"/>
            <a:ext cx="72000" cy="97200"/>
          </a:xfrm>
          <a:prstGeom prst="line">
            <a:avLst/>
          </a:prstGeom>
          <a:ln w="825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3101400" y="2304000"/>
            <a:ext cx="72000" cy="97200"/>
          </a:xfrm>
          <a:prstGeom prst="line">
            <a:avLst/>
          </a:prstGeom>
          <a:ln w="825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191400" y="2264400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PD Puerta dbl.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88000" y="22428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3931200" y="2329200"/>
            <a:ext cx="151200" cy="0"/>
          </a:xfrm>
          <a:prstGeom prst="line">
            <a:avLst/>
          </a:prstGeom>
          <a:ln w="698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931200" y="2365200"/>
            <a:ext cx="151200" cy="0"/>
          </a:xfrm>
          <a:prstGeom prst="line">
            <a:avLst/>
          </a:prstGeom>
          <a:ln w="698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960000" y="2307599"/>
            <a:ext cx="0" cy="79201"/>
          </a:xfrm>
          <a:prstGeom prst="line">
            <a:avLst/>
          </a:prstGeom>
          <a:ln w="635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053600" y="2307599"/>
            <a:ext cx="0" cy="79201"/>
          </a:xfrm>
          <a:prstGeom prst="line">
            <a:avLst/>
          </a:prstGeom>
          <a:ln w="635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100400" y="2264400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VN Ventana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797000" y="22428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876199" y="2307599"/>
            <a:ext cx="79200" cy="79200"/>
          </a:xfrm>
          <a:prstGeom prst="rect">
            <a:avLst/>
          </a:prstGeom>
          <a:solidFill>
            <a:srgbClr val="172033"/>
          </a:solidFill>
          <a:ln w="508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09400" y="2264400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PI Pilar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706000" y="22428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5749200" y="2347200"/>
            <a:ext cx="151199" cy="0"/>
          </a:xfrm>
          <a:prstGeom prst="line">
            <a:avLst/>
          </a:prstGeom>
          <a:ln w="698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749200" y="2314800"/>
            <a:ext cx="0" cy="64800"/>
          </a:xfrm>
          <a:prstGeom prst="line">
            <a:avLst/>
          </a:prstGeom>
          <a:ln w="698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900399" y="2314800"/>
            <a:ext cx="0" cy="64800"/>
          </a:xfrm>
          <a:prstGeom prst="line">
            <a:avLst/>
          </a:prstGeom>
          <a:ln w="698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5918400" y="2264400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CT Cota/med.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5000" y="22428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6658199" y="2394000"/>
            <a:ext cx="36001" cy="0"/>
          </a:xfrm>
          <a:prstGeom prst="line">
            <a:avLst/>
          </a:prstGeom>
          <a:ln w="635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694200" y="2370599"/>
            <a:ext cx="0" cy="23401"/>
          </a:xfrm>
          <a:prstGeom prst="line">
            <a:avLst/>
          </a:prstGeom>
          <a:ln w="635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694200" y="2370599"/>
            <a:ext cx="36000" cy="0"/>
          </a:xfrm>
          <a:prstGeom prst="line">
            <a:avLst/>
          </a:prstGeom>
          <a:ln w="635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730200" y="2347199"/>
            <a:ext cx="0" cy="23400"/>
          </a:xfrm>
          <a:prstGeom prst="line">
            <a:avLst/>
          </a:prstGeom>
          <a:ln w="635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730200" y="2347200"/>
            <a:ext cx="35999" cy="0"/>
          </a:xfrm>
          <a:prstGeom prst="line">
            <a:avLst/>
          </a:prstGeom>
          <a:ln w="635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766199" y="2323800"/>
            <a:ext cx="0" cy="23400"/>
          </a:xfrm>
          <a:prstGeom prst="line">
            <a:avLst/>
          </a:prstGeom>
          <a:ln w="635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766199" y="2323800"/>
            <a:ext cx="36001" cy="0"/>
          </a:xfrm>
          <a:prstGeom prst="line">
            <a:avLst/>
          </a:prstGeom>
          <a:ln w="6350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6827400" y="2264400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ES Escalera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51999" y="24516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95200" y="2512800"/>
            <a:ext cx="151200" cy="93600"/>
          </a:xfrm>
          <a:prstGeom prst="rect">
            <a:avLst/>
          </a:prstGeom>
          <a:noFill/>
          <a:ln w="63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 flipV="1">
            <a:off x="309600" y="2527200"/>
            <a:ext cx="118800" cy="64800"/>
          </a:xfrm>
          <a:prstGeom prst="line">
            <a:avLst/>
          </a:prstGeom>
          <a:ln w="6985">
            <a:solidFill>
              <a:srgbClr val="172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64400" y="24731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RM Rampa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61000" y="24516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204200" y="24948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04200" y="2496600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WC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73400" y="24731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WC Inodoro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070000" y="24516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2113200" y="24948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113200" y="2496600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LV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82400" y="24731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LV Lavamanos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979000" y="24516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022200" y="24948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022200" y="2496600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UR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191400" y="24731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UR Urinario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888000" y="24516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931200" y="24948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931200" y="2496600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DU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100400" y="24731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DU Ducha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797000" y="24516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840199" y="2494800"/>
            <a:ext cx="122399" cy="122399"/>
          </a:xfrm>
          <a:prstGeom prst="rect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840199" y="2496600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TC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09400" y="24731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TC Toma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706000" y="24516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749200" y="24948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749200" y="2496600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IN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918400" y="24731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IN Interruptor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615000" y="2451600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658199" y="24948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658199" y="2496600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LU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827400" y="24731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LU Luz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51999" y="2660399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295200" y="27036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95200" y="2705399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VE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4400" y="26819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VE Ventilador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61000" y="2660399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204200" y="2703600"/>
            <a:ext cx="122399" cy="122399"/>
          </a:xfrm>
          <a:prstGeom prst="rect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204200" y="2705399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AA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73400" y="26819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AA Aire acond.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070000" y="2660399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113200" y="2703600"/>
            <a:ext cx="122399" cy="122399"/>
          </a:xfrm>
          <a:prstGeom prst="rect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113200" y="2705399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TE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82400" y="26819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TE Tablero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979000" y="2660399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022200" y="27036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022200" y="2705399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AP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191400" y="26819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AP Pto. agua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888000" y="2660399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931200" y="27036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931200" y="2705399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DG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100400" y="26819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DG Desagüe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797000" y="2660399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840199" y="27036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840199" y="2705399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DF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009400" y="26819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DF Daño/falla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706000" y="2660399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749200" y="27036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749200" y="2705399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FO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918400" y="26819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FO Pto. foto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615000" y="2660399"/>
            <a:ext cx="909000" cy="208800"/>
          </a:xfrm>
          <a:prstGeom prst="rect">
            <a:avLst/>
          </a:prstGeom>
          <a:noFill/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6658199" y="2703600"/>
            <a:ext cx="122399" cy="122399"/>
          </a:xfrm>
          <a:prstGeom prst="ellipse">
            <a:avLst/>
          </a:prstGeom>
          <a:noFill/>
          <a:ln w="698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658199" y="2705399"/>
            <a:ext cx="122399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50" b="1">
                <a:solidFill>
                  <a:srgbClr val="172033"/>
                </a:solidFill>
                <a:latin typeface="Arial"/>
              </a:rPr>
              <a:t>OT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827400" y="2681999"/>
            <a:ext cx="678600" cy="1656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172033"/>
                </a:solidFill>
                <a:latin typeface="Arial"/>
              </a:rPr>
              <a:t>OT Otro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80800" y="2869200"/>
            <a:ext cx="1980000" cy="162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70" b="1">
                <a:solidFill>
                  <a:srgbClr val="173F67"/>
                </a:solidFill>
                <a:latin typeface="Arial"/>
              </a:rPr>
              <a:t>PLANO / CROQUIS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232000" y="2869200"/>
            <a:ext cx="3600000" cy="162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72033"/>
                </a:solidFill>
                <a:latin typeface="Arial"/>
              </a:rPr>
              <a:t>ESCALA: □ 1 cuadro=50 cm   □ 1 cuadro=100 cm   □ sin escala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832000" y="2869200"/>
            <a:ext cx="1655999" cy="162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72033"/>
                </a:solidFill>
                <a:latin typeface="Arial"/>
              </a:rPr>
              <a:t>NORTE: ↑ / dibuje N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288000" y="3031200"/>
            <a:ext cx="0" cy="756000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46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64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827999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007999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188000" y="3031200"/>
            <a:ext cx="0" cy="756000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36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54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72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90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2088000" y="3031200"/>
            <a:ext cx="0" cy="756000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226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244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262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280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2988000" y="3031200"/>
            <a:ext cx="0" cy="756000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16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34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52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370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3888000" y="3031200"/>
            <a:ext cx="0" cy="756000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406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424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442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460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4788000" y="3031200"/>
            <a:ext cx="0" cy="756000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496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514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532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550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5688000" y="3031200"/>
            <a:ext cx="0" cy="756000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586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604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622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640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6588000" y="3031200"/>
            <a:ext cx="0" cy="756000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676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694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712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7308000" y="3031200"/>
            <a:ext cx="0" cy="756000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7488000" y="3031200"/>
            <a:ext cx="0" cy="756000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288000" y="3031200"/>
            <a:ext cx="7200000" cy="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288000" y="321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288000" y="339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288000" y="357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288000" y="375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288000" y="3931200"/>
            <a:ext cx="7200000" cy="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288000" y="411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288000" y="429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288000" y="447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288000" y="465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288000" y="4831199"/>
            <a:ext cx="7200000" cy="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288000" y="501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288000" y="519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288000" y="537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288000" y="555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288000" y="5731199"/>
            <a:ext cx="7200000" cy="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288000" y="591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288000" y="609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288000" y="627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288000" y="645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288000" y="6631199"/>
            <a:ext cx="7200000" cy="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288000" y="681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288000" y="699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288000" y="717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288000" y="735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288000" y="7531199"/>
            <a:ext cx="7200000" cy="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288000" y="771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288000" y="789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288000" y="807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288000" y="8251199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288000" y="8431200"/>
            <a:ext cx="7200000" cy="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288000" y="861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288000" y="879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288000" y="897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288000" y="915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288000" y="9331200"/>
            <a:ext cx="7200000" cy="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288000" y="951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288000" y="969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288000" y="987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288000" y="1005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288000" y="10231200"/>
            <a:ext cx="7200000" cy="0"/>
          </a:xfrm>
          <a:prstGeom prst="line">
            <a:avLst/>
          </a:prstGeom>
          <a:ln w="8890">
            <a:solidFill>
              <a:srgbClr val="BB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288000" y="1041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288000" y="10591200"/>
            <a:ext cx="7200000" cy="0"/>
          </a:xfrm>
          <a:prstGeom prst="line">
            <a:avLst/>
          </a:prstGeom>
          <a:ln w="317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Rectangle 270"/>
          <p:cNvSpPr/>
          <p:nvPr/>
        </p:nvSpPr>
        <p:spPr>
          <a:xfrm>
            <a:off x="288000" y="3031200"/>
            <a:ext cx="7200000" cy="7560000"/>
          </a:xfrm>
          <a:prstGeom prst="rect">
            <a:avLst/>
          </a:prstGeom>
          <a:noFill/>
          <a:ln w="1270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51999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51999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[C01]PT___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71428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71428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[C02]VN___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290857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1290857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[C03]PI___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1810285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1810285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[C04]WC___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2329714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2329714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[C05]LV___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849142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2849142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[C06]UR___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3368571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3368571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[C07]DU___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3888000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3888000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[C08]TC___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407428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4407428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[C09]IN___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4926857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4926857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[C10]LU___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5446285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5446285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[C11]VE___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965714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5965714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[C12]AA___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6485142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6485142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[C13]TE___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7004571" y="10591200"/>
            <a:ext cx="519428" cy="180000"/>
          </a:xfrm>
          <a:prstGeom prst="rect">
            <a:avLst/>
          </a:prstGeom>
          <a:noFill/>
          <a:ln w="635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7004571" y="10591200"/>
            <a:ext cx="519428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70" b="1">
                <a:solidFill>
                  <a:srgbClr val="173F67"/>
                </a:solidFill>
                <a:latin typeface="Arial"/>
              </a:rPr>
              <a:t>[C14]DF___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51999" y="10771200"/>
            <a:ext cx="7272000" cy="324000"/>
          </a:xfrm>
          <a:prstGeom prst="rect">
            <a:avLst/>
          </a:prstGeom>
          <a:noFill/>
          <a:ln w="762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80800" y="10785599"/>
            <a:ext cx="7214400" cy="79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173F67"/>
                </a:solidFill>
                <a:latin typeface="Arial"/>
              </a:rPr>
              <a:t>[O01] OBSERVACIONES / DAÑOS Y FALLAS (use DF01, DF02... y vincule F01, F02...):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324000" y="10936800"/>
            <a:ext cx="3960000" cy="0"/>
          </a:xfrm>
          <a:prstGeom prst="line">
            <a:avLst/>
          </a:prstGeom>
          <a:ln w="5715">
            <a:solidFill>
              <a:srgbClr val="98A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324000" y="11026800"/>
            <a:ext cx="3960000" cy="0"/>
          </a:xfrm>
          <a:prstGeom prst="line">
            <a:avLst/>
          </a:prstGeom>
          <a:ln w="5715">
            <a:solidFill>
              <a:srgbClr val="98A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TextBox 303"/>
          <p:cNvSpPr txBox="1"/>
          <p:nvPr/>
        </p:nvSpPr>
        <p:spPr>
          <a:xfrm>
            <a:off x="4428000" y="10789200"/>
            <a:ext cx="3024000" cy="10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20" b="1">
                <a:solidFill>
                  <a:srgbClr val="173F67"/>
                </a:solidFill>
                <a:latin typeface="Arial"/>
              </a:rPr>
              <a:t>REFERENCIA DE FOTOS EN EL CROQUIS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4428000" y="10879200"/>
            <a:ext cx="3024000" cy="1908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90" b="1">
                <a:solidFill>
                  <a:srgbClr val="172033"/>
                </a:solidFill>
                <a:latin typeface="Arial"/>
              </a:rPr>
              <a:t>Marque FO01, FO02... junto al elemento. En la app seleccione su código y número, por ejemplo PT01 o DF02. La identificación completa se imprime al pie de la foto.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42000" y="11311200"/>
            <a:ext cx="86400" cy="86400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7343999" y="11311200"/>
            <a:ext cx="86400" cy="86400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332000" y="11214000"/>
            <a:ext cx="5112000" cy="259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15" b="1">
                <a:solidFill>
                  <a:srgbClr val="172033"/>
                </a:solidFill>
                <a:latin typeface="Arial"/>
              </a:rPr>
              <a:t>CIALPA_PM_01 v1.4 | Hoja 1 de 2 | ID FOTO: ESCUELA-B##-P##-E###-H##-ELEMENTO##-FT## | [E07] ESTADO: □ COMPLETO  □ PARCIAL | Fotografíe la hoja completa, plana, enfocada y sin sombras.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000" y="298800"/>
            <a:ext cx="86400" cy="86400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43999" y="298800"/>
            <a:ext cx="86400" cy="86400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90800"/>
            <a:ext cx="432000" cy="271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0000" y="180000"/>
            <a:ext cx="4896000" cy="28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3F67"/>
                </a:solidFill>
                <a:latin typeface="Arial"/>
              </a:rPr>
              <a:t>MANUAL RÁPIDO DEL CENSISTA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8000" y="194400"/>
            <a:ext cx="1080000" cy="27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>
                <a:solidFill>
                  <a:srgbClr val="173F67"/>
                </a:solidFill>
                <a:latin typeface="Arial"/>
              </a:rPr>
              <a:t>FORM CIALPA_PM_01
v1.4 · HOJA 2/2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999" y="576000"/>
            <a:ext cx="7272000" cy="251999"/>
          </a:xfrm>
          <a:prstGeom prst="rect">
            <a:avLst/>
          </a:prstGeom>
          <a:solidFill>
            <a:srgbClr val="173F67"/>
          </a:solidFill>
          <a:ln w="635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590400"/>
            <a:ext cx="288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586800"/>
            <a:ext cx="6912000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rial"/>
              </a:rPr>
              <a:t>SECUENCIA DE TRABAJO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687600"/>
            <a:ext cx="6912000" cy="10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80" b="0">
                <a:solidFill>
                  <a:srgbClr val="D9E7F2"/>
                </a:solidFill>
                <a:latin typeface="Arial"/>
              </a:rPr>
              <a:t>Complete el papel y la app con los mismos números. No improvise códigos.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999" y="864000"/>
            <a:ext cx="2376000" cy="1044000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4000" y="943200"/>
            <a:ext cx="251999" cy="251999"/>
          </a:xfrm>
          <a:prstGeom prst="ellipse">
            <a:avLst/>
          </a:prstGeom>
          <a:solidFill>
            <a:srgbClr val="E94B24"/>
          </a:solidFill>
          <a:ln>
            <a:solidFill>
              <a:srgbClr val="E94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946800"/>
            <a:ext cx="251999" cy="2375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200" y="936000"/>
            <a:ext cx="1944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173F67"/>
                </a:solidFill>
                <a:latin typeface="Arial"/>
              </a:rPr>
              <a:t>UBÍQUESE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200" y="1224000"/>
            <a:ext cx="2217600" cy="594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15" b="0">
                <a:solidFill>
                  <a:srgbClr val="172033"/>
                </a:solidFill>
                <a:latin typeface="Arial"/>
              </a:rPr>
              <a:t>Ingrese a CIALPA Fotos, permita ubicación y abra la escuela asignada desde el mapa o la lista.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0000" y="864000"/>
            <a:ext cx="2376000" cy="1044000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72000" y="943200"/>
            <a:ext cx="251999" cy="251999"/>
          </a:xfrm>
          <a:prstGeom prst="ellipse">
            <a:avLst/>
          </a:prstGeom>
          <a:solidFill>
            <a:srgbClr val="E94B24"/>
          </a:solidFill>
          <a:ln>
            <a:solidFill>
              <a:srgbClr val="E94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2000" y="946800"/>
            <a:ext cx="251999" cy="2375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7200" y="936000"/>
            <a:ext cx="1944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173F67"/>
                </a:solidFill>
                <a:latin typeface="Arial"/>
              </a:rPr>
              <a:t>IDENTIFIQUE LA HOJA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200" y="1224000"/>
            <a:ext cx="2217600" cy="594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15" b="0">
                <a:solidFill>
                  <a:srgbClr val="172033"/>
                </a:solidFill>
                <a:latin typeface="Arial"/>
              </a:rPr>
              <a:t>Escriba código MEC, cédula, fecha, formulario, hoja, bloque, piso y espacio antes de dibujar.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48000" y="864000"/>
            <a:ext cx="2376000" cy="1044000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20000" y="943200"/>
            <a:ext cx="251999" cy="251999"/>
          </a:xfrm>
          <a:prstGeom prst="ellipse">
            <a:avLst/>
          </a:prstGeom>
          <a:solidFill>
            <a:srgbClr val="E94B24"/>
          </a:solidFill>
          <a:ln>
            <a:solidFill>
              <a:srgbClr val="E94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0000" y="946800"/>
            <a:ext cx="251999" cy="2375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5199" y="936000"/>
            <a:ext cx="1944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173F67"/>
                </a:solidFill>
                <a:latin typeface="Arial"/>
              </a:rPr>
              <a:t>DIBUJE Y NUMERE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7200" y="1224000"/>
            <a:ext cx="2217600" cy="594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15" b="0">
                <a:solidFill>
                  <a:srgbClr val="172033"/>
                </a:solidFill>
                <a:latin typeface="Arial"/>
              </a:rPr>
              <a:t>Trace el croquis. Use los símbolos oficiales y numere cada tipo por espacio: PT01, PT02; VN01; DF01...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999" y="1980000"/>
            <a:ext cx="2376000" cy="1044000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4000" y="2059200"/>
            <a:ext cx="251999" cy="251999"/>
          </a:xfrm>
          <a:prstGeom prst="ellipse">
            <a:avLst/>
          </a:prstGeom>
          <a:solidFill>
            <a:srgbClr val="E94B24"/>
          </a:solidFill>
          <a:ln>
            <a:solidFill>
              <a:srgbClr val="E94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000" y="2062799"/>
            <a:ext cx="251999" cy="2375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200" y="2052000"/>
            <a:ext cx="1944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173F67"/>
                </a:solidFill>
                <a:latin typeface="Arial"/>
              </a:rPr>
              <a:t>REPITA LOS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200" y="2340000"/>
            <a:ext cx="2217600" cy="594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15" b="0">
                <a:solidFill>
                  <a:srgbClr val="172033"/>
                </a:solidFill>
                <a:latin typeface="Arial"/>
              </a:rPr>
              <a:t>En la app elija exactamente la misma escuela, formulario, hoja, bloque, piso, espacio y tipo de espacio.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00000" y="1980000"/>
            <a:ext cx="2376000" cy="1044000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72000" y="2059200"/>
            <a:ext cx="251999" cy="251999"/>
          </a:xfrm>
          <a:prstGeom prst="ellipse">
            <a:avLst/>
          </a:prstGeom>
          <a:solidFill>
            <a:srgbClr val="E94B24"/>
          </a:solidFill>
          <a:ln>
            <a:solidFill>
              <a:srgbClr val="E94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2000" y="2062799"/>
            <a:ext cx="251999" cy="2375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7200" y="2052000"/>
            <a:ext cx="1944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173F67"/>
                </a:solidFill>
                <a:latin typeface="Arial"/>
              </a:rPr>
              <a:t>FOTOGRAFÍE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79200" y="2340000"/>
            <a:ext cx="2217600" cy="594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15" b="0">
                <a:solidFill>
                  <a:srgbClr val="172033"/>
                </a:solidFill>
                <a:latin typeface="Arial"/>
              </a:rPr>
              <a:t>Seleccione tipo y número de elemento. Pulse Foto del espacio. La app añade el código completo al pie sin tapar la imagen.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48000" y="1980000"/>
            <a:ext cx="2376000" cy="1044000"/>
          </a:xfrm>
          <a:prstGeom prst="rect">
            <a:avLst/>
          </a:prstGeom>
          <a:solidFill>
            <a:srgbClr val="F8FAFC"/>
          </a:solidFill>
          <a:ln w="698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20000" y="2059200"/>
            <a:ext cx="251999" cy="251999"/>
          </a:xfrm>
          <a:prstGeom prst="ellipse">
            <a:avLst/>
          </a:prstGeom>
          <a:solidFill>
            <a:srgbClr val="E94B24"/>
          </a:solidFill>
          <a:ln>
            <a:solidFill>
              <a:srgbClr val="E94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20000" y="2062799"/>
            <a:ext cx="251999" cy="2375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15199" y="2052000"/>
            <a:ext cx="1944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173F67"/>
                </a:solidFill>
                <a:latin typeface="Arial"/>
              </a:rPr>
              <a:t>CIERRE Y SINCRONICE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27200" y="2340000"/>
            <a:ext cx="2217600" cy="594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15" b="0">
                <a:solidFill>
                  <a:srgbClr val="172033"/>
                </a:solidFill>
                <a:latin typeface="Arial"/>
              </a:rPr>
              <a:t>Tome una foto completa de la hoja, revise nitidez y códigos, finalice y confirme que Pendientes quede en cero.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999" y="3131999"/>
            <a:ext cx="7272000" cy="251999"/>
          </a:xfrm>
          <a:prstGeom prst="rect">
            <a:avLst/>
          </a:prstGeom>
          <a:solidFill>
            <a:srgbClr val="173F67"/>
          </a:solidFill>
          <a:ln w="635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00" y="3146400"/>
            <a:ext cx="288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00" y="3142800"/>
            <a:ext cx="6912000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rial"/>
              </a:rPr>
              <a:t>CÓDIGO ÚNICO DE LA FOTO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00" y="3243600"/>
            <a:ext cx="6912000" cy="10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80" b="0">
                <a:solidFill>
                  <a:srgbClr val="D9E7F2"/>
                </a:solidFill>
                <a:latin typeface="Arial"/>
              </a:rPr>
              <a:t>Debe coincidir en papel, imagen, Drive y Sheets.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1999" y="3384000"/>
            <a:ext cx="7272000" cy="792000"/>
          </a:xfrm>
          <a:prstGeom prst="rect">
            <a:avLst/>
          </a:prstGeom>
          <a:solidFill>
            <a:srgbClr val="E8F6F1"/>
          </a:solidFill>
          <a:ln w="8890">
            <a:solidFill>
              <a:srgbClr val="9B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000" y="3456000"/>
            <a:ext cx="7056000" cy="2519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73F67"/>
                </a:solidFill>
                <a:latin typeface="Consolas"/>
              </a:rPr>
              <a:t>11007-B01-P00-E001-H01-PT01-FT01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0000" y="3744000"/>
            <a:ext cx="7056000" cy="342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70" b="1">
                <a:solidFill>
                  <a:srgbClr val="164E3F"/>
                </a:solidFill>
                <a:latin typeface="Arial"/>
              </a:rPr>
              <a:t>ESCUELA 11007  |  BLOQUE 01  |  PISO 00 (planta baja)  |  ESPACIO 001  |  HOJA 01  |  PUERTA 01  |  FOTO 01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999" y="4284000"/>
            <a:ext cx="3546000" cy="251999"/>
          </a:xfrm>
          <a:prstGeom prst="rect">
            <a:avLst/>
          </a:prstGeom>
          <a:solidFill>
            <a:srgbClr val="173F67"/>
          </a:solidFill>
          <a:ln w="635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00" y="4298400"/>
            <a:ext cx="288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4294800"/>
            <a:ext cx="3186000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rial"/>
              </a:rPr>
              <a:t>CÓMO NUMERAR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00" y="4395600"/>
            <a:ext cx="3186000" cy="10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80" b="0">
                <a:solidFill>
                  <a:srgbClr val="D9E7F2"/>
                </a:solidFill>
                <a:latin typeface="Arial"/>
              </a:rPr>
              <a:t>Reinicie por espacio y por tipo.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06000" y="4284000"/>
            <a:ext cx="3618000" cy="251999"/>
          </a:xfrm>
          <a:prstGeom prst="rect">
            <a:avLst/>
          </a:prstGeom>
          <a:solidFill>
            <a:srgbClr val="173F67"/>
          </a:solidFill>
          <a:ln w="635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41999" y="4298400"/>
            <a:ext cx="288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30000" y="4294800"/>
            <a:ext cx="3258000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rial"/>
              </a:rPr>
              <a:t>FOTOS QUE SÍ SIRVEN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0000" y="4395600"/>
            <a:ext cx="3258000" cy="10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80" b="0">
                <a:solidFill>
                  <a:srgbClr val="D9E7F2"/>
                </a:solidFill>
                <a:latin typeface="Arial"/>
              </a:rPr>
              <a:t>Primero contexto; luego detalle.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999" y="4536000"/>
            <a:ext cx="3546000" cy="20880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4000" y="4608000"/>
            <a:ext cx="540000" cy="244799"/>
          </a:xfrm>
          <a:prstGeom prst="rect">
            <a:avLst/>
          </a:prstGeom>
          <a:solidFill>
            <a:srgbClr val="EDF4F9"/>
          </a:solidFill>
          <a:ln w="5715">
            <a:solidFill>
              <a:srgbClr val="9FB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4000" y="4608000"/>
            <a:ext cx="540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73F67"/>
                </a:solidFill>
                <a:latin typeface="Consolas"/>
              </a:rPr>
              <a:t>B01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000" y="4608000"/>
            <a:ext cx="2736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90" b="0">
                <a:solidFill>
                  <a:srgbClr val="172033"/>
                </a:solidFill>
                <a:latin typeface="Arial"/>
              </a:rPr>
              <a:t>Primer bloque de la escuela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000" y="4932000"/>
            <a:ext cx="540000" cy="244799"/>
          </a:xfrm>
          <a:prstGeom prst="rect">
            <a:avLst/>
          </a:prstGeom>
          <a:solidFill>
            <a:srgbClr val="EDF4F9"/>
          </a:solidFill>
          <a:ln w="5715">
            <a:solidFill>
              <a:srgbClr val="9FB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4000" y="4932000"/>
            <a:ext cx="540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73F67"/>
                </a:solidFill>
                <a:latin typeface="Consolas"/>
              </a:rPr>
              <a:t>P00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6000" y="4932000"/>
            <a:ext cx="2736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90" b="0">
                <a:solidFill>
                  <a:srgbClr val="172033"/>
                </a:solidFill>
                <a:latin typeface="Arial"/>
              </a:rPr>
              <a:t>Planta baja; P01 primer piso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000" y="5256000"/>
            <a:ext cx="540000" cy="244799"/>
          </a:xfrm>
          <a:prstGeom prst="rect">
            <a:avLst/>
          </a:prstGeom>
          <a:solidFill>
            <a:srgbClr val="EDF4F9"/>
          </a:solidFill>
          <a:ln w="5715">
            <a:solidFill>
              <a:srgbClr val="9FB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4000" y="5256000"/>
            <a:ext cx="540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73F67"/>
                </a:solidFill>
                <a:latin typeface="Consolas"/>
              </a:rPr>
              <a:t>E001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6000" y="5256000"/>
            <a:ext cx="2736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90" b="0">
                <a:solidFill>
                  <a:srgbClr val="172033"/>
                </a:solidFill>
                <a:latin typeface="Arial"/>
              </a:rPr>
              <a:t>Primer espacio del bloque y piso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4000" y="5580000"/>
            <a:ext cx="540000" cy="244799"/>
          </a:xfrm>
          <a:prstGeom prst="rect">
            <a:avLst/>
          </a:prstGeom>
          <a:solidFill>
            <a:srgbClr val="EDF4F9"/>
          </a:solidFill>
          <a:ln w="5715">
            <a:solidFill>
              <a:srgbClr val="9FB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4000" y="5580000"/>
            <a:ext cx="540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73F67"/>
                </a:solidFill>
                <a:latin typeface="Consolas"/>
              </a:rPr>
              <a:t>PT01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6000" y="5580000"/>
            <a:ext cx="2736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90" b="0">
                <a:solidFill>
                  <a:srgbClr val="172033"/>
                </a:solidFill>
                <a:latin typeface="Arial"/>
              </a:rPr>
              <a:t>Primera puerta de ese espacio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000" y="5903999"/>
            <a:ext cx="540000" cy="244799"/>
          </a:xfrm>
          <a:prstGeom prst="rect">
            <a:avLst/>
          </a:prstGeom>
          <a:solidFill>
            <a:srgbClr val="EDF4F9"/>
          </a:solidFill>
          <a:ln w="5715">
            <a:solidFill>
              <a:srgbClr val="9FB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000" y="5903999"/>
            <a:ext cx="540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73F67"/>
                </a:solidFill>
                <a:latin typeface="Consolas"/>
              </a:rPr>
              <a:t>DF01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6000" y="5903999"/>
            <a:ext cx="2736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90" b="0">
                <a:solidFill>
                  <a:srgbClr val="172033"/>
                </a:solidFill>
                <a:latin typeface="Arial"/>
              </a:rPr>
              <a:t>Primer daño o falla señalado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4000" y="6228000"/>
            <a:ext cx="540000" cy="244799"/>
          </a:xfrm>
          <a:prstGeom prst="rect">
            <a:avLst/>
          </a:prstGeom>
          <a:solidFill>
            <a:srgbClr val="EDF4F9"/>
          </a:solidFill>
          <a:ln w="5715">
            <a:solidFill>
              <a:srgbClr val="9FB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4000" y="6228000"/>
            <a:ext cx="540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73F67"/>
                </a:solidFill>
                <a:latin typeface="Consolas"/>
              </a:rPr>
              <a:t>FO01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6000" y="6228000"/>
            <a:ext cx="2736000" cy="244799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90" b="0">
                <a:solidFill>
                  <a:srgbClr val="172033"/>
                </a:solidFill>
                <a:latin typeface="Arial"/>
              </a:rPr>
              <a:t>Punto desde donde se tomó la foto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06000" y="4536000"/>
            <a:ext cx="3618000" cy="20880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96000" y="4608000"/>
            <a:ext cx="792000" cy="19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40" b="1">
                <a:solidFill>
                  <a:srgbClr val="E94B24"/>
                </a:solidFill>
                <a:latin typeface="Arial"/>
              </a:rPr>
              <a:t>1. CONTEXTO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88000" y="4608000"/>
            <a:ext cx="2628000" cy="378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4" b="0">
                <a:solidFill>
                  <a:srgbClr val="172033"/>
                </a:solidFill>
                <a:latin typeface="Arial"/>
              </a:rPr>
              <a:t>Muestre el elemento completo y su relación con el espacio.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96000" y="5094000"/>
            <a:ext cx="792000" cy="19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40" b="1">
                <a:solidFill>
                  <a:srgbClr val="E94B24"/>
                </a:solidFill>
                <a:latin typeface="Arial"/>
              </a:rPr>
              <a:t>2. DETALLE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88000" y="5094000"/>
            <a:ext cx="2628000" cy="378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4" b="0">
                <a:solidFill>
                  <a:srgbClr val="172033"/>
                </a:solidFill>
                <a:latin typeface="Arial"/>
              </a:rPr>
              <a:t>Para daños, agregue una toma cercana después de la vista general.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96000" y="5580000"/>
            <a:ext cx="792000" cy="19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40" b="1">
                <a:solidFill>
                  <a:srgbClr val="E94B24"/>
                </a:solidFill>
                <a:latin typeface="Arial"/>
              </a:rPr>
              <a:t>3. HOJA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88000" y="5580000"/>
            <a:ext cx="2628000" cy="378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4" b="0">
                <a:solidFill>
                  <a:srgbClr val="172033"/>
                </a:solidFill>
                <a:latin typeface="Arial"/>
              </a:rPr>
              <a:t>Cuatro esquinas visibles, cámara paralela, sin sombra y texto enfocado.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96000" y="6066000"/>
            <a:ext cx="792000" cy="19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40" b="1">
                <a:solidFill>
                  <a:srgbClr val="E94B24"/>
                </a:solidFill>
                <a:latin typeface="Arial"/>
              </a:rPr>
              <a:t>4. EVITE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88000" y="6066000"/>
            <a:ext cx="2628000" cy="378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4" b="0">
                <a:solidFill>
                  <a:srgbClr val="172033"/>
                </a:solidFill>
                <a:latin typeface="Arial"/>
              </a:rPr>
              <a:t>Dedos, contraluz, zoom digital, fotos repetidas o números distintos.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1999" y="6732000"/>
            <a:ext cx="7272000" cy="251999"/>
          </a:xfrm>
          <a:prstGeom prst="rect">
            <a:avLst/>
          </a:prstGeom>
          <a:solidFill>
            <a:srgbClr val="173F67"/>
          </a:solidFill>
          <a:ln w="635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8000" y="6746400"/>
            <a:ext cx="288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6000" y="6742800"/>
            <a:ext cx="6912000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rial"/>
              </a:rPr>
              <a:t>SI NO HAY INTERNET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6000" y="6843599"/>
            <a:ext cx="6912000" cy="10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80" b="0">
                <a:solidFill>
                  <a:srgbClr val="D9E7F2"/>
                </a:solidFill>
                <a:latin typeface="Arial"/>
              </a:rPr>
              <a:t>La cámara y los borradores siguen funcionando.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1999" y="6983999"/>
            <a:ext cx="7272000" cy="864000"/>
          </a:xfrm>
          <a:prstGeom prst="rect">
            <a:avLst/>
          </a:prstGeom>
          <a:solidFill>
            <a:srgbClr val="FFF7ED"/>
          </a:solidFill>
          <a:ln w="8890">
            <a:solidFill>
              <a:srgbClr val="F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0000" y="7056000"/>
            <a:ext cx="7056000" cy="72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8A4510"/>
                </a:solidFill>
                <a:latin typeface="Arial"/>
              </a:rPr>
              <a:t>1. Pulse Guardar borrador o Finalizar y guardar en cola.  2. No cierre sesión, no desinstale la app y no borre datos del navegador.  3. Cuando vuelva la señal, abra Pendientes y pulse Sincronizar ahora.  4. Espere hasta ver 0 operaciones en cola.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1999" y="7956000"/>
            <a:ext cx="7272000" cy="251999"/>
          </a:xfrm>
          <a:prstGeom prst="rect">
            <a:avLst/>
          </a:prstGeom>
          <a:solidFill>
            <a:srgbClr val="173F67"/>
          </a:solidFill>
          <a:ln w="635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8000" y="7970400"/>
            <a:ext cx="288000" cy="21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6000" y="7966800"/>
            <a:ext cx="6912000" cy="11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rial"/>
              </a:rPr>
              <a:t>CONTROL FINAL ANTES DE RETIRARSE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6000" y="8067600"/>
            <a:ext cx="6912000" cy="108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380" b="0">
                <a:solidFill>
                  <a:srgbClr val="D9E7F2"/>
                </a:solidFill>
                <a:latin typeface="Arial"/>
              </a:rPr>
              <a:t>Revise cada casilla; una foto sin relación no puede recuperarse después.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51999" y="8208000"/>
            <a:ext cx="3636000" cy="36000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4000" y="8236800"/>
            <a:ext cx="3491999" cy="29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172033"/>
                </a:solidFill>
                <a:latin typeface="Arial"/>
              </a:rPr>
              <a:t>□ Código MEC correcto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88000" y="8208000"/>
            <a:ext cx="3636000" cy="36000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60000" y="8236800"/>
            <a:ext cx="3491999" cy="29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172033"/>
                </a:solidFill>
                <a:latin typeface="Arial"/>
              </a:rPr>
              <a:t>□ Cédula sin puntos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1999" y="8568000"/>
            <a:ext cx="3636000" cy="36000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4000" y="8596800"/>
            <a:ext cx="3491999" cy="29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172033"/>
                </a:solidFill>
                <a:latin typeface="Arial"/>
              </a:rPr>
              <a:t>□ B/P/E/H iguales en papel y app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88000" y="8568000"/>
            <a:ext cx="3636000" cy="36000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60000" y="8596800"/>
            <a:ext cx="3491999" cy="29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172033"/>
                </a:solidFill>
                <a:latin typeface="Arial"/>
              </a:rPr>
              <a:t>□ Elementos numerados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1999" y="8928000"/>
            <a:ext cx="3636000" cy="36000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4000" y="8956800"/>
            <a:ext cx="3491999" cy="29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172033"/>
                </a:solidFill>
                <a:latin typeface="Arial"/>
              </a:rPr>
              <a:t>□ Medidas solo en cm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88000" y="8928000"/>
            <a:ext cx="3636000" cy="36000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960000" y="8956800"/>
            <a:ext cx="3491999" cy="29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172033"/>
                </a:solidFill>
                <a:latin typeface="Arial"/>
              </a:rPr>
              <a:t>□ Daños/fallas marcados DF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1999" y="9288000"/>
            <a:ext cx="3636000" cy="36000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4000" y="9316800"/>
            <a:ext cx="3491999" cy="29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172033"/>
                </a:solidFill>
                <a:latin typeface="Arial"/>
              </a:rPr>
              <a:t>□ Hoja completa fotografiada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888000" y="9288000"/>
            <a:ext cx="3636000" cy="360000"/>
          </a:xfrm>
          <a:prstGeom prst="rect">
            <a:avLst/>
          </a:prstGeom>
          <a:solidFill>
            <a:srgbClr val="FFFFFF"/>
          </a:solidFill>
          <a:ln w="571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60000" y="9316800"/>
            <a:ext cx="3491999" cy="2952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80" b="1">
                <a:solidFill>
                  <a:srgbClr val="172033"/>
                </a:solidFill>
                <a:latin typeface="Arial"/>
              </a:rPr>
              <a:t>□ Pendientes en cero o guardados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1999" y="9720000"/>
            <a:ext cx="7272000" cy="1080000"/>
          </a:xfrm>
          <a:prstGeom prst="rect">
            <a:avLst/>
          </a:prstGeom>
          <a:solidFill>
            <a:srgbClr val="F2F7FB"/>
          </a:solidFill>
          <a:ln w="8890">
            <a:solidFill>
              <a:srgbClr val="17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4000" y="9792000"/>
            <a:ext cx="2232000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73F67"/>
                </a:solidFill>
                <a:latin typeface="Arial"/>
              </a:rPr>
              <a:t>REGLAS QUE NO CAMBIAN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4000" y="10008000"/>
            <a:ext cx="3456000" cy="684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90" b="1">
                <a:solidFill>
                  <a:srgbClr val="172033"/>
                </a:solidFill>
                <a:latin typeface="Arial"/>
              </a:rPr>
              <a:t>• Todas las medidas se anotan en centímetros (cm).
• Use coma decimal solo para milímetros: 12,5 cm.
• Tinta negra o azul oscura; rojo solo resalta DF.
• No borre: tache una vez y escriba la corrección al lado.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31999" y="9792000"/>
            <a:ext cx="3384000" cy="180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73F67"/>
                </a:solidFill>
                <a:latin typeface="Arial"/>
              </a:rPr>
              <a:t>ACCESO A LA APP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31999" y="10008000"/>
            <a:ext cx="3384000" cy="612000"/>
          </a:xfrm>
          <a:prstGeom prst="rect">
            <a:avLst/>
          </a:prstGeom>
          <a:noFill/>
        </p:spPr>
        <p:txBody>
          <a:bodyPr wrap="square" lIns="9000" rIns="9000" tIns="1800" bIns="1800" anchor="t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75" b="1">
                <a:solidFill>
                  <a:srgbClr val="172033"/>
                </a:solidFill>
                <a:latin typeface="Arial"/>
              </a:rPr>
              <a:t>censoescuelaspy.github.io/registro_fotos/
Si una escuela no aparece o el usuario no puede ingresar, conserve la ficha y comuníquese con el administrador antes de crear códigos alternativos.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42000" y="11311200"/>
            <a:ext cx="86400" cy="86400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343999" y="11311200"/>
            <a:ext cx="86400" cy="86400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52000" y="11052000"/>
            <a:ext cx="5472000" cy="396000"/>
          </a:xfrm>
          <a:prstGeom prst="rect">
            <a:avLst/>
          </a:prstGeom>
          <a:noFill/>
        </p:spPr>
        <p:txBody>
          <a:bodyPr wrap="square" lIns="9000" rIns="9000" tIns="1800" bIns="180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459" b="1">
                <a:solidFill>
                  <a:srgbClr val="173F67"/>
                </a:solidFill>
                <a:latin typeface="Arial"/>
              </a:rPr>
              <a:t>CIALPA_PM_01 v1.4 | Hoja 2 de 2 | Conserve esta hoja junto a las fichas en blanco. La identificación impresa por la app no reemplaza la numeración correcta del croquis.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de contingencia y manual de campo CIALPA v1.4</dc:title>
  <dc:subject>Versión editable para Google Slides</dc:subject>
  <dc:creator>CIALPA</dc:creator>
  <cp:keywords>CIALPA, plano manual, editable, Google Slides, OCR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